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Vazirmatn Light"/>
      <p:regular r:id="rId28"/>
      <p:bold r:id="rId29"/>
    </p:embeddedFont>
    <p:embeddedFont>
      <p:font typeface="Vazirmatn ExtraLight"/>
      <p:regular r:id="rId30"/>
      <p:bold r:id="rId31"/>
    </p:embeddedFont>
    <p:embeddedFont>
      <p:font typeface="Vazirmatn Black"/>
      <p:bold r:id="rId32"/>
    </p:embeddedFont>
    <p:embeddedFont>
      <p:font typeface="Vazirmatn"/>
      <p:regular r:id="rId33"/>
      <p:bold r:id="rId34"/>
    </p:embeddedFont>
    <p:embeddedFont>
      <p:font typeface="Alfa Slab One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VazirmatnLight-regular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Vazirmatn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VazirmatnExtraLight-bold.fntdata"/><Relationship Id="rId30" Type="http://schemas.openxmlformats.org/officeDocument/2006/relationships/font" Target="fonts/VazirmatnExtraLight-regular.fntdata"/><Relationship Id="rId11" Type="http://schemas.openxmlformats.org/officeDocument/2006/relationships/slide" Target="slides/slide5.xml"/><Relationship Id="rId33" Type="http://schemas.openxmlformats.org/officeDocument/2006/relationships/font" Target="fonts/Vazirmatn-regular.fntdata"/><Relationship Id="rId10" Type="http://schemas.openxmlformats.org/officeDocument/2006/relationships/slide" Target="slides/slide4.xml"/><Relationship Id="rId32" Type="http://schemas.openxmlformats.org/officeDocument/2006/relationships/font" Target="fonts/VazirmatnBlack-bold.fntdata"/><Relationship Id="rId13" Type="http://schemas.openxmlformats.org/officeDocument/2006/relationships/slide" Target="slides/slide7.xml"/><Relationship Id="rId35" Type="http://schemas.openxmlformats.org/officeDocument/2006/relationships/font" Target="fonts/AlfaSlabOne-regular.fntdata"/><Relationship Id="rId12" Type="http://schemas.openxmlformats.org/officeDocument/2006/relationships/slide" Target="slides/slide6.xml"/><Relationship Id="rId34" Type="http://schemas.openxmlformats.org/officeDocument/2006/relationships/font" Target="fonts/Vazirmatn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d80ebbdc_3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9d80ebbdc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d80ebbdc_3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a9d80ebbdc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d80ebbdc_3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a9d80ebbdc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d80ebbdc_3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a9d80ebbdc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9d80ebbdc_3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9d80ebbdc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9d80ebbdc_3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a9d80ebbdc_3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9d80ebbdc_3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a9d80ebbdc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9d80ebbdc_3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a9d80ebbdc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d80ebbdc_3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9d80ebbdc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9d80ebbdc_3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a9d80ebbdc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9d80ebbdc_3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9d80ebbdc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d80ebbdc_3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a9d80ebbdc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9d80ebbdc_3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9d80ebbdc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9d80ebbdc_3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9d80ebbdc_3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9d80ebbdc_3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a9d80ebbdc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9d80ebbdc_3_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a9d80ebbdc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d80ebbdc_3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9d80ebbdc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nature.com/articles/s41592-020-01008-z" TargetMode="External"/><Relationship Id="rId4" Type="http://schemas.openxmlformats.org/officeDocument/2006/relationships/hyperlink" Target="https://www.nature.com/articles/s41592-020-01008-z" TargetMode="External"/><Relationship Id="rId9" Type="http://schemas.openxmlformats.org/officeDocument/2006/relationships/hyperlink" Target="https://arxiv.org/abs/2308.11432" TargetMode="External"/><Relationship Id="rId5" Type="http://schemas.openxmlformats.org/officeDocument/2006/relationships/hyperlink" Target="https://www.nature.com/articles/s41592-020-01008-z" TargetMode="External"/><Relationship Id="rId6" Type="http://schemas.openxmlformats.org/officeDocument/2006/relationships/hyperlink" Target="https://arxiv.org/abs/2211.02701" TargetMode="External"/><Relationship Id="rId7" Type="http://schemas.openxmlformats.org/officeDocument/2006/relationships/hyperlink" Target="https://arxiv.org/abs/2304.02643" TargetMode="External"/><Relationship Id="rId8" Type="http://schemas.openxmlformats.org/officeDocument/2006/relationships/hyperlink" Target="https://arxiv.org/abs/2304.12306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info@hoosh.pro" TargetMode="External"/><Relationship Id="rId4" Type="http://schemas.openxmlformats.org/officeDocument/2006/relationships/hyperlink" Target="https://hoosh.pro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7.gif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ctrTitle"/>
          </p:nvPr>
        </p:nvSpPr>
        <p:spPr>
          <a:xfrm>
            <a:off x="390525" y="1315425"/>
            <a:ext cx="82221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100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</a:t>
            </a:r>
            <a:endParaRPr b="1" sz="5100">
              <a:solidFill>
                <a:srgbClr val="000000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100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rPr>
              <a:t>بدون یک خط کدنویسی</a:t>
            </a:r>
            <a:endParaRPr b="1" sz="5100">
              <a:solidFill>
                <a:srgbClr val="000000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0" name="Google Shape;100;p24"/>
          <p:cNvSpPr txBox="1"/>
          <p:nvPr>
            <p:ph idx="1" type="subTitle"/>
          </p:nvPr>
        </p:nvSpPr>
        <p:spPr>
          <a:xfrm>
            <a:off x="390525" y="3033000"/>
            <a:ext cx="82221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1100">
                <a:solidFill>
                  <a:srgbClr val="666666"/>
                </a:solidFill>
                <a:latin typeface="Vazirmatn"/>
                <a:ea typeface="Vazirmatn"/>
                <a:cs typeface="Vazirmatn"/>
                <a:sym typeface="Vazirmatn"/>
              </a:rPr>
              <a:t>طراحی و ارزیابی یک چارچوب هوش مصنوعی کنشگر (Agentic AI) مبتنی بر مدل‌های زبانی بزرگ </a:t>
            </a:r>
            <a:endParaRPr b="1" sz="1100">
              <a:solidFill>
                <a:srgbClr val="666666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100">
                <a:solidFill>
                  <a:srgbClr val="666666"/>
                </a:solidFill>
                <a:latin typeface="Vazirmatn"/>
                <a:ea typeface="Vazirmatn"/>
                <a:cs typeface="Vazirmatn"/>
                <a:sym typeface="Vazirmatn"/>
              </a:rPr>
              <a:t>برای خودکار‌سازی و تنظیم گردش‌کارهای سگمنتیشن تصاویر پزشکی</a:t>
            </a:r>
            <a:endParaRPr sz="1100">
              <a:solidFill>
                <a:srgbClr val="666666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100">
                <a:solidFill>
                  <a:srgbClr val="666666"/>
                </a:solidFill>
                <a:latin typeface="Vazirmatn"/>
                <a:ea typeface="Vazirmatn"/>
                <a:cs typeface="Vazirmatn"/>
                <a:sym typeface="Vazirmatn"/>
              </a:rPr>
              <a:t>ویژه پژوهشگران و پزشکان غیر متخصص در برنامه‌نویسی</a:t>
            </a:r>
            <a:endParaRPr sz="1100">
              <a:solidFill>
                <a:srgbClr val="666666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01" name="Google Shape;101;p24"/>
          <p:cNvSpPr txBox="1"/>
          <p:nvPr/>
        </p:nvSpPr>
        <p:spPr>
          <a:xfrm>
            <a:off x="5013525" y="4119375"/>
            <a:ext cx="35991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ارائه دهنده: حسام شینی</a:t>
            </a:r>
            <a:endParaRPr b="0" i="1" sz="1000" u="none" cap="none" strike="noStrike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استاد راهنما: خانم دکتر نگار مجمع</a:t>
            </a:r>
            <a:endParaRPr b="0" i="0" sz="1000" u="none" cap="none" strike="noStrike">
              <a:solidFill>
                <a:schemeClr val="lt2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pic>
        <p:nvPicPr>
          <p:cNvPr id="102" name="Google Shape;1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75" y="96075"/>
            <a:ext cx="809625" cy="84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4"/>
              </a:srgbClr>
            </a:outerShdw>
          </a:effectLst>
        </p:spPr>
      </p:pic>
      <p:sp>
        <p:nvSpPr>
          <p:cNvPr id="103" name="Google Shape;103;p24"/>
          <p:cNvSpPr txBox="1"/>
          <p:nvPr/>
        </p:nvSpPr>
        <p:spPr>
          <a:xfrm>
            <a:off x="4614525" y="96075"/>
            <a:ext cx="39981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موسسه آموزش عالی نقش جهان - گروه مهندسی کامپیوتر، بیوانفورماتیک </a:t>
            </a:r>
            <a:endParaRPr b="0" i="0" sz="800" u="none" cap="none" strike="noStrike">
              <a:solidFill>
                <a:srgbClr val="999999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999999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سمینار پیشنهاد موضوع پایان‌نامه کارشناسی ارشد</a:t>
            </a:r>
            <a:endParaRPr b="0" i="0" sz="800" u="none" cap="none" strike="noStrike">
              <a:solidFill>
                <a:srgbClr val="999999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</p:txBody>
      </p:sp>
      <p:sp>
        <p:nvSpPr>
          <p:cNvPr id="104" name="Google Shape;104;p24"/>
          <p:cNvSpPr txBox="1"/>
          <p:nvPr/>
        </p:nvSpPr>
        <p:spPr>
          <a:xfrm>
            <a:off x="333375" y="4286475"/>
            <a:ext cx="752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پاییز 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هوش مصنوعی کنشگر (Agentic AI) چیست؟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311700" y="1167450"/>
            <a:ext cx="8520600" cy="28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هوش مصنوعی کنشگر (Agentic AI)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سامانه‌ای که برای رسیدن به یک هدف مشخص، خودش برنامه‌ریزی، استفاده از ابزار و اجرا را مدیریت می‌کند (با نظارت محدود انسان).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تفاوت با یک مدل زبانی معمولی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فقط یک پاسخ متنی یک‌مرحله‌ای نمی‌دهد؛  وارد چرخه‌ی «برنامه‌ریزی → اجرا → مشاهده → اصلاح» می‌شود.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قابلیت‌های کلیدی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29845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Vazirmatn Light"/>
              <a:buChar char="○"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برنامه‌ریزی چندمرحله‌ای (Planning)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29845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Vazirmatn Light"/>
              <a:buChar char="○"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استفاده از ابزارها و API‌ها (Tool Use)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298450" lvl="1" marL="9144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Vazirmatn Light"/>
              <a:buChar char="○"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نگه‌داشتن وضعیت و تطبیق با بازخورد (State &amp; Adaptation)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از پردازش تصویر تا سگمنتیشن در پزشکی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311700" y="1167450"/>
            <a:ext cx="8520600" cy="28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دریافت و آماده‌سازی تصویر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تصویربرداری (مثل MRI، CT، میکروسکوپ) و انجام گام‌های اولیه‌ای مثل تغییر اندازه و فرمت برای ورود به فرایند تحلیلی.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پیش‌پردازش و بهبود کیفیت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کاهش نویز، نرمال‌سازی شدت، هم‌ترازی و اصلاح آرتیفکت‌ها برای آماده‌کردن تصویر جهت تحلیل قابل‌اعتماد.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استخراج ویژگی و نمایش مناسب داده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تبدیل تصویر خام به نمایش‌های معنادارتر (ویژگی‌های دستی، نگاشت‌های یادگرفته‌شده یا feature map در یادگیری عمیق) برای مدل‌های تحلیلی.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سگمنتیشن به‌عنوان پل بین پیکسل و ساختار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جداکردن ناحیه‌های هدف (مثلاً تومور، عضو یا ضایعه) تا بتوان حجم، شکل و سایر شاخص‌های کلینیکی را روی آن‌ها اندازه‌گیری و تحلیل کرد.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3/17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311700" y="445025"/>
            <a:ext cx="8520600" cy="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مسئله در سگمنتیشن تصاویر پزشکی</a:t>
            </a:r>
            <a:br>
              <a:rPr lang="en">
                <a:latin typeface="Vazirmatn"/>
                <a:ea typeface="Vazirmatn"/>
                <a:cs typeface="Vazirmatn"/>
                <a:sym typeface="Vazirmatn"/>
              </a:rPr>
            </a:br>
            <a:r>
              <a:rPr lang="en">
                <a:latin typeface="Vazirmatn"/>
                <a:ea typeface="Vazirmatn"/>
                <a:cs typeface="Vazirmatn"/>
                <a:sym typeface="Vazirmatn"/>
              </a:rPr>
              <a:t>شکاف بین متخصص بالینی و گردش‌کارهای سگمنتیشن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311700" y="1507394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سگمنتیشن تصاویر پزشکی یک فرایند چندمرحله‌ای و حساس است.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پیش‌پردازش، نرمال‌سازی، انتخاب مدل، تنظیم معماری و هایپر پارامترها، آموزش / Fine-tuning، پس‌پردازش و ارزیابی.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بیشتر پژوهشگران زیست و پزشکی برنامه‌نویس نیستند.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اما برای اجرای تحلیل‌ها مجبورند با Bash، R، Python و کانتینرها درگیر شوند.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ابزارهای قدرتمند فعلی (nnU-Net، MONAI و …)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چارچوب‌های قوی و انعطاف‌پذیرند، اما تنظیم آن‌ها نیازمند دانش فنی یادگیری عمیق و برنامه‌نویسی است.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نتیجه در عمل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راه‌اندازی و تکرار سگمنتیشن‌ها زمان‌بر است.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تنظیمات گاهی ad-hoc و غیر مستند می‌ماند.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تکرارپذیری و مقایسه منصفانه روش‌ها سخت می‌شود.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4/17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چارچوب پیشنهادی: هوش مصنوعی کنشگر برای سگمنتیشن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34" name="Google Shape;134;p28"/>
          <p:cNvSpPr/>
          <p:nvPr/>
        </p:nvSpPr>
        <p:spPr>
          <a:xfrm>
            <a:off x="5420325" y="1328850"/>
            <a:ext cx="3308325" cy="1230325"/>
          </a:xfrm>
          <a:prstGeom prst="flowChartManualInpu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600" lIns="90600" spcFirstLastPara="1" rIns="90600" wrap="square" tIns="906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2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2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2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1585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pic>
        <p:nvPicPr>
          <p:cNvPr id="135" name="Google Shape;135;p28" title="microscopic-research-icon-6524632-5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3157" y="1865288"/>
            <a:ext cx="656111" cy="65611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/>
          <p:nvPr/>
        </p:nvSpPr>
        <p:spPr>
          <a:xfrm>
            <a:off x="940050" y="1328861"/>
            <a:ext cx="3308325" cy="1230300"/>
          </a:xfrm>
          <a:prstGeom prst="flowChartPreparation">
            <a:avLst/>
          </a:prstGeom>
          <a:solidFill>
            <a:schemeClr val="lt1"/>
          </a:solidFill>
          <a:ln cap="flat" cmpd="sng" w="11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825" lIns="111825" spcFirstLastPara="1" rIns="111825" wrap="square" tIns="111825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</a:pPr>
            <a:r>
              <a:t/>
            </a:r>
            <a:endParaRPr b="0" i="0" sz="1712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7" name="Google Shape;137;p28" title="brain-icon-8137880-51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6156" y="1426085"/>
            <a:ext cx="656108" cy="586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8"/>
          <p:cNvSpPr txBox="1"/>
          <p:nvPr/>
        </p:nvSpPr>
        <p:spPr>
          <a:xfrm>
            <a:off x="1250363" y="2034686"/>
            <a:ext cx="26877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600" lIns="90600" spcFirstLastPara="1" rIns="90600" wrap="square" tIns="906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991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دستیار خودمختار مبتنی بر مدل زبانی بزرگ</a:t>
            </a:r>
            <a:endParaRPr b="0" i="0" sz="900" u="none" cap="none" strike="noStrike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grpSp>
        <p:nvGrpSpPr>
          <p:cNvPr id="139" name="Google Shape;139;p28"/>
          <p:cNvGrpSpPr/>
          <p:nvPr/>
        </p:nvGrpSpPr>
        <p:grpSpPr>
          <a:xfrm>
            <a:off x="940276" y="3265068"/>
            <a:ext cx="3308201" cy="1230321"/>
            <a:chOff x="1382450" y="2675250"/>
            <a:chExt cx="3189550" cy="1611000"/>
          </a:xfrm>
        </p:grpSpPr>
        <p:sp>
          <p:nvSpPr>
            <p:cNvPr id="140" name="Google Shape;140;p28"/>
            <p:cNvSpPr/>
            <p:nvPr/>
          </p:nvSpPr>
          <p:spPr>
            <a:xfrm>
              <a:off x="1382450" y="2675250"/>
              <a:ext cx="3189550" cy="1611000"/>
            </a:xfrm>
            <a:prstGeom prst="flowChartProcess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600" lIns="90600" spcFirstLastPara="1" rIns="90600" wrap="square" tIns="906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7"/>
                <a:buFont typeface="Arial"/>
                <a:buNone/>
              </a:pPr>
              <a:r>
                <a:t/>
              </a:r>
              <a:endParaRPr b="0" i="0" sz="1387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pic>
          <p:nvPicPr>
            <p:cNvPr id="141" name="Google Shape;141;p28" title="workflow-icon-8069531-512.pn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46347" y="2773068"/>
              <a:ext cx="662125" cy="662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28"/>
            <p:cNvSpPr txBox="1"/>
            <p:nvPr/>
          </p:nvSpPr>
          <p:spPr>
            <a:xfrm>
              <a:off x="2024277" y="3435201"/>
              <a:ext cx="1905900" cy="4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600" lIns="90600" spcFirstLastPara="1" rIns="90600" wrap="square" tIns="90600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991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Vazirmatn Light"/>
                  <a:ea typeface="Vazirmatn Light"/>
                  <a:cs typeface="Vazirmatn Light"/>
                  <a:sym typeface="Vazirmatn Light"/>
                </a:rPr>
                <a:t>لایه ابزارهای سگمنتیشن</a:t>
              </a:r>
              <a:endParaRPr b="0" i="0" sz="900" u="none" cap="none" strike="noStrike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endParaRPr>
            </a:p>
          </p:txBody>
        </p:sp>
      </p:grpSp>
      <p:sp>
        <p:nvSpPr>
          <p:cNvPr id="143" name="Google Shape;143;p28"/>
          <p:cNvSpPr/>
          <p:nvPr/>
        </p:nvSpPr>
        <p:spPr>
          <a:xfrm>
            <a:off x="2488178" y="2559140"/>
            <a:ext cx="212400" cy="7059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600" lIns="90600" spcFirstLastPara="1" rIns="90600" wrap="square" tIns="90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t/>
            </a:r>
            <a:endParaRPr b="0" i="0" sz="1387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4" name="Google Shape;144;p28"/>
          <p:cNvGrpSpPr/>
          <p:nvPr/>
        </p:nvGrpSpPr>
        <p:grpSpPr>
          <a:xfrm>
            <a:off x="5420121" y="3295118"/>
            <a:ext cx="3308147" cy="1230338"/>
            <a:chOff x="5478007" y="2531307"/>
            <a:chExt cx="4012794" cy="1803222"/>
          </a:xfrm>
        </p:grpSpPr>
        <p:sp>
          <p:nvSpPr>
            <p:cNvPr id="145" name="Google Shape;145;p28"/>
            <p:cNvSpPr/>
            <p:nvPr/>
          </p:nvSpPr>
          <p:spPr>
            <a:xfrm>
              <a:off x="5478007" y="2531307"/>
              <a:ext cx="4012794" cy="1803222"/>
            </a:xfrm>
            <a:prstGeom prst="flowChartTerminator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925" lIns="80925" spcFirstLastPara="1" rIns="80925" wrap="square" tIns="80925">
              <a:no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85"/>
                <a:buFont typeface="Arial"/>
                <a:buNone/>
              </a:pPr>
              <a:r>
                <a:t/>
              </a:r>
              <a:endParaRPr b="0" i="0" sz="885" u="none" cap="none" strike="noStrike">
                <a:solidFill>
                  <a:srgbClr val="000000"/>
                </a:solidFill>
                <a:latin typeface="Vazirmatn"/>
                <a:ea typeface="Vazirmatn"/>
                <a:cs typeface="Vazirmatn"/>
                <a:sym typeface="Vazirmatn"/>
              </a:endParaRPr>
            </a:p>
          </p:txBody>
        </p:sp>
        <p:sp>
          <p:nvSpPr>
            <p:cNvPr id="146" name="Google Shape;146;p28"/>
            <p:cNvSpPr txBox="1"/>
            <p:nvPr/>
          </p:nvSpPr>
          <p:spPr>
            <a:xfrm>
              <a:off x="5943169" y="3427362"/>
              <a:ext cx="3082500" cy="6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925" lIns="80925" spcFirstLastPara="1" rIns="80925" wrap="square" tIns="8092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000000"/>
                  </a:solidFill>
                  <a:latin typeface="Vazirmatn Light"/>
                  <a:ea typeface="Vazirmatn Light"/>
                  <a:cs typeface="Vazirmatn Light"/>
                  <a:sym typeface="Vazirmatn Light"/>
                </a:rPr>
                <a:t>ارزیابی فنی + تجربه‌ی کاربری آن برای پژوهشگران غیر برنامه نویس</a:t>
              </a:r>
              <a:endParaRPr b="0" i="0" sz="900" u="none" cap="none" strike="noStrike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endParaRPr>
            </a:p>
          </p:txBody>
        </p:sp>
        <p:pic>
          <p:nvPicPr>
            <p:cNvPr id="147" name="Google Shape;147;p28" title="analysis-icon-3694231-512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95734" y="2610052"/>
              <a:ext cx="729185" cy="7291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28"/>
          <p:cNvSpPr/>
          <p:nvPr/>
        </p:nvSpPr>
        <p:spPr>
          <a:xfrm>
            <a:off x="4248475" y="1825950"/>
            <a:ext cx="1171800" cy="236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600" lIns="90600" spcFirstLastPara="1" rIns="90600" wrap="square" tIns="90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t/>
            </a:r>
            <a:endParaRPr b="0" i="0" sz="1387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248474" y="3762175"/>
            <a:ext cx="1171800" cy="236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6993675" y="2581541"/>
            <a:ext cx="212400" cy="705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8"/>
          <p:cNvSpPr txBox="1"/>
          <p:nvPr/>
        </p:nvSpPr>
        <p:spPr>
          <a:xfrm>
            <a:off x="4089087" y="1543088"/>
            <a:ext cx="1331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600" lIns="90600" spcFirstLastPara="1" rIns="90600" wrap="square" tIns="906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درخواست به زبان طبیعی</a:t>
            </a:r>
            <a:endParaRPr b="0" i="0" sz="900" u="none" cap="none" strike="noStrike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5420325" y="1542825"/>
            <a:ext cx="33591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متخصص بالینی / پژوهشگر غیر متخصص در برنامه‌نویسی</a:t>
            </a:r>
            <a:endParaRPr b="0" i="0" sz="1800" u="none" cap="none" strike="noStrike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5/17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170100" y="330299"/>
            <a:ext cx="8662200" cy="7497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381000" marR="3810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اهداف پژوهش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080001"/>
            <a:ext cx="85206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طراحی و پیاده‌سازی یک چارچوب هوش مصنوعی کنشگر مبتنی بر مدل‌های زبانی بزرگ.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برای خودکار‌سازی و تنظیم گردش‌کارهای سگمنتیشن تصاویر پزشکی.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یکپارچه‌سازی چارچوب با یک یا چند چارچوب سگمنتیشن موجود.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(مانند nnU-Net / MONAI)، با تأکید بر حفظ تکرارپذیری و ثبت دقیق تنظیمات و نتایج.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ارزیابی فنی چارچوب پیشنهادی در یک یا دو سناریوی واقعی سگمنتیشن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از نظر درستی نتایج (متریک‌ها)، پایداری اجرا و مقایسه با اجرای مرجع توسط یک pipeline متعارف.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ارزیابی تجربه کاربری متخصصان بالینی / پژوهشگران غیر متخصص در برنامه‌نویسی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از نظر سهولت استفاده، درک مراحل و اعتماد به خروجی‌های سیستم.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بررسی امکان تعمیم چارچوب به سایر گردش‌کارها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(مثلاً تحلیل RNA-seq) به‌عنوان جهت‌گیری برای کارهای آینده.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6/17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سوالات پژوهش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089900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کارایی فنی در سگمنتیشن: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تا چه حد چارچوب هوش مصنوعی کنشگر می‌تواند از روی یک درخواست زبان طبیعی،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یک گردش‌کار سگمنتیشن تصاویر پزشکی را به‌صورت صحیح، کامل و تکرارپذیر اجرا کند؟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مقایسه با روش مرجع: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کیفیت سگمنتیشن (مثلاً Dice، IoU، حجم ضایعه)، زمان اجرا و میزان خطا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در تحلیل‌های انجام‌شده توسط این چارچوب، در مقایسه با اجرای همان گردش‌کار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توسط یک pipeline مرجع (مثلاً تنظیم دستی nnU-Net)، چگونه است؟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تجربه کاربری متخصصان: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متخصصان بالینی / پژوهشگران غیرمتخصص در برنامه‌نویسی این چارچوب را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از نظر سهولت یادگیری، سهولت استفاده، شفافیت مراحل و اعتماد به نتایج چگونه ارزیابی می‌کنند؟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7/17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کارهای مرتبط (۱): چارچوب‌های سگمنتیشن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311700" y="1080000"/>
            <a:ext cx="85206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U-Net و خانواده‌ی آن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معماری‌های مبتنی بر encoder–decoder برای سگمنتیشن تصاویر پزشکی؛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پایه‌ی بسیاری از مدل‌های بعدی.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nnU-Net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چارچوب خودتنظیم‌گر برای سگمنتیشن پزشکی؛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به‌صورت خودکار معماری، سایز patch، پیش‌پردازش و روش آموزش را متناسب با داده تنظیم می‌کند.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و برای بسیاری از دیتاست‌های چالش، baseline قوی ارائه می‌دهد.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MONAI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فریم‌ورک متن‌باز بر پایه‌ی PyTorch برای تصویر پزشکی؛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حاوی ماژول‌های آماده‌ی شبکه، transform، loss و متریک برای Segmentation/Classification/…</a:t>
            </a:r>
            <a:endParaRPr sz="14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ابزارهای نرم‌افزاری کاربردی (3D Slicer، ITK-SNAP و …)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محیط‌های تعاملی برای مشاهده و سگمنتیشن؛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معمولاً نیازمند کار دستی و تنظیمات زیاد توسط کاربر متخصص</a:t>
            </a:r>
            <a:endParaRPr sz="14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8/17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445025"/>
            <a:ext cx="8832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کارهای مرتبط (۲) – از مدل‌های عمومی تا کنترل زبانی سگمنتیشن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080000"/>
            <a:ext cx="85206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مدل‌های Segment Anything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سگمنتیشن «تقریباً هر چیزی» با ورودی‌های ساده مثل نقطه و باکس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نسخه‌ها و تنظیمات مخصوص تصویر پزشکی (CT, MRI, Histopathology) در حال توسعه هستند.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ترکیب مدل‌های متنی و تصویری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استفاده از embedding مشترک تصویر–متن برای پیدا کردن ناحیه‌ها از روی توصیف متنی.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مثال: «ناحیهٔ تومور در لوب فرونتال چپ» به‌عنوان راهنمای segmentation.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رابط‌های زبانی برای پایپ لاین‌های تصویری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اجرای زنجیره‌ای مراحل پردازش تصویر (سگمنتیشن، محاسبه حجم، مقایسه با اسکن قبلی) با دستورهای متنی به‌جای اسکریپت‌نویسی.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شکاف پژوهشی مورد تمرکز این پایان‌نامه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نبود یک چارچوب کنشگر end-to-end با تمرکز هم‌زمان بر کاربر غیربرنامه‌نویس و ثبت منظم تنظیمات و نتایج برای تکرارپذیری.</a:t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85" name="Google Shape;185;p32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9/17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معماری کلی چارچوب پیشنهادی و فناوری‌های مورد استفاده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67450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لایه کاربر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دریافت سوال زبانی و توضیح کیس، مدیریت آپلود/انتخاب تصاویر و نمایش ماسک‌های خروجی، متریک‌ها و خلاصه متنی.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لایه هسته هوش مصنوعی کنشگر (LLM + Orchestrator)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تحلیل درخواست کاربر، طراحی مراحل گردش‌کار سگمنتیشن و فراخوانی ابزارهای مناسب با مدیریت خطا و تکرار اجرا در صورت نیاز.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1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لایه اجرای سگمنتیشن (nnU-Net / MONAI و مدل‌های مشابه)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انجام پیش‌پردازش، آموزش یا استفاده از مدل‌های آماده و پس‌پردازش ماسک‌ها روی داده‌های تصویری پزشکی.</a:t>
            </a:r>
            <a:b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لایه ثبت و تکرارپذیری (برای نمونه MLflow)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ذخیره پارامترها، نسخه مدل‌ها، متریک‌ها و نتایج برای امکان مقایسه اجرای چارچوب کنشگر با پایپ‌لاین مرجع و تضمین تکرار پذیری.</a:t>
            </a:r>
            <a:endParaRPr sz="1400">
              <a:solidFill>
                <a:srgbClr val="666666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10/17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روش کار و فازهای انجام پایان‌نامه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11700" y="1167450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فاز ۱ – پیاده‌سازی نسخه اولیه چارچوب کنشگر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انتخاب یک سناریوی مشخص سگمنتیشن، طراحی رابط کاربری ساده، اتصال LLM + Orchestrator به nnU-Net / MONAI و راه‌اندازی ثبت اجراها (مثلاً با MLflow).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فاز ۲ – ارزیابی فنی روی دیتاست‌های سگمنتیشن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انتخاب ۱–۲ دیتاست پزشکی، تعریف یک پایپ‌لاین مرجع (مثلاً تنظیم دستی nnU-Net)، اجرای همان سناریو با چارچوب کنشگر و مقایسه متریک‌ها، زمان اجرا و پایداری.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فاز ۳ – ارزیابی کاربری و مستندسازی تعمیم‌پذیری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666666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انجام یک user study کوچک با چند متخصص بالینی یا پژوهشگر غیرمتخصص در برنامه‌نویسی، تحلیل تجربه کاربری و اعتماد به سیستم، و مستندسازی الگوی طراحی و امکان تعمیم به گردش‌کارهای دیگر (مثلاً RNA-seq).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11/17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چالش‌ها، ریسک‌ها و راهکارهای پیشنهادی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67450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خطر خطا و «توهم» مدل زبانی در طراحی و توضیح گردش‌کار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پیچیدگی و حساسیت تنظیمات سگمنتیشن (مدل، پیش‌پردازش، هایپر پارامترها)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محدودیت منابع محاسباتی (کارت گرافیک، زمان آموزش و اجرا)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ریسک پیچیده‌شدن بیش از حد پروژه برای مقطع ارشد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چالش جذب متخصص برای مطالعه کاربر (user study)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12/17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کارهای آینده و مسیرهای گسترش چارچوب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67450"/>
            <a:ext cx="85206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افزودن ماژول‌های تعاملی مبتنی بر مدل‌های vision–language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استفاده از ابزارهای بهینه‌سازی خودکار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تعمیم چارچوب از سگمنتیشن به گردش‌کارهای omics (مثلاً RNA-seq)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پشتیبانی از تحلیل‌های چندوجهی (multimodal)</a:t>
            </a:r>
            <a:b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-3175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azirmatn Light"/>
              <a:buChar char="●"/>
            </a:pPr>
            <a:r>
              <a:rPr lang="en" sz="14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یکپارچه‌سازی با چارچوب‌های گردش‌کاری/کنشگر عمومی‌تر</a:t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13/17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490250" y="526350"/>
            <a:ext cx="83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en" sz="4320">
                <a:latin typeface="Vazirmatn Black"/>
                <a:ea typeface="Vazirmatn Black"/>
                <a:cs typeface="Vazirmatn Black"/>
                <a:sym typeface="Vazirmatn Black"/>
              </a:rPr>
              <a:t>فاصله‌ی بین «چیزی که پزشک می‌بیند» و «چیزی که هوش مصنوعی می‌تواند بفهمد» آن‌قدر کم می شود که فقط یک سوال ساده‌ی انسانی بین‌شان بماند.</a:t>
            </a:r>
            <a:endParaRPr sz="4320">
              <a:latin typeface="Vazirmatn Black"/>
              <a:ea typeface="Vazirmatn Black"/>
              <a:cs typeface="Vazirmatn Black"/>
              <a:sym typeface="Vazirmatn Black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14/17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Vazirmatn"/>
                <a:ea typeface="Vazirmatn"/>
                <a:cs typeface="Vazirmatn"/>
                <a:sym typeface="Vazirmatn"/>
              </a:rPr>
              <a:t>فهرست منابع</a:t>
            </a:r>
            <a:endParaRPr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080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Isensee, F., Jaeger, P. F., Kohl, S. A. A., Petersen, J., Maier-Hein, K. H. (2021)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</a:t>
            </a:r>
            <a: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nnU-Net: a self-configuring method for deep learning-based biomedical image segmentation.</a:t>
            </a:r>
            <a:b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Nature Methods, 18, 203–211.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chemeClr val="hlink"/>
                </a:solidFill>
                <a:uFill>
                  <a:noFill/>
                </a:uFill>
                <a:latin typeface="Vazirmatn ExtraLight"/>
                <a:ea typeface="Vazirmatn ExtraLight"/>
                <a:cs typeface="Vazirmatn ExtraLight"/>
                <a:sym typeface="Vazirmatn ExtraLight"/>
                <a:hlinkClick r:id="rId3"/>
              </a:rPr>
              <a:t> </a:t>
            </a:r>
            <a: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4"/>
              </a:rPr>
              <a:t>https://www.nature.com/articles/s41592-020-01008-z</a:t>
            </a:r>
            <a:b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5"/>
              </a:rPr>
            </a:br>
            <a:endParaRPr sz="900" u="sng">
              <a:solidFill>
                <a:schemeClr val="hlink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Cardoso, M. J., et al. (2022)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</a:t>
            </a:r>
            <a: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MONAI: An open-source framework for deep learning in healthcare imaging.</a:t>
            </a:r>
            <a:b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arXiv preprint arXiv:2211.02701.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6"/>
              </a:rPr>
              <a:t>https://arxiv.org/abs/2211.02701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endParaRPr sz="900">
              <a:solidFill>
                <a:srgbClr val="000000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Kirillov, A., et al. (2023)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</a:t>
            </a:r>
            <a: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Segment Anything.</a:t>
            </a:r>
            <a:b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arXiv preprint arXiv:2304.02643.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7"/>
              </a:rPr>
              <a:t>https://arxiv.org/abs/2304.02643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endParaRPr sz="900">
              <a:solidFill>
                <a:srgbClr val="000000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Ma, J., et al. (2023)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</a:t>
            </a:r>
            <a: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Segment Anything in Medical Images.</a:t>
            </a: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(MedSAM)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arXiv preprint arXiv:2304.12306.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8"/>
              </a:rPr>
              <a:t>https://arxiv.org/abs/2304.12306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endParaRPr sz="900">
              <a:solidFill>
                <a:srgbClr val="000000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Wang, X., et al. (2023)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</a:t>
            </a:r>
            <a: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A Survey on Large Language Model based Autonomous Agents.</a:t>
            </a:r>
            <a:br>
              <a:rPr i="1"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  <a:t> arXiv preprint arXiv:2308.11432.</a:t>
            </a:r>
            <a:br>
              <a:rPr lang="en" sz="900">
                <a:solidFill>
                  <a:srgbClr val="000000"/>
                </a:solidFill>
                <a:latin typeface="Vazirmatn ExtraLight"/>
                <a:ea typeface="Vazirmatn ExtraLight"/>
                <a:cs typeface="Vazirmatn ExtraLight"/>
                <a:sym typeface="Vazirmatn ExtraLight"/>
              </a:rPr>
            </a:br>
            <a:r>
              <a:rPr lang="en" sz="900" u="sng">
                <a:solidFill>
                  <a:schemeClr val="hlink"/>
                </a:solidFill>
                <a:latin typeface="Vazirmatn ExtraLight"/>
                <a:ea typeface="Vazirmatn ExtraLight"/>
                <a:cs typeface="Vazirmatn ExtraLight"/>
                <a:sym typeface="Vazirmatn ExtraLight"/>
                <a:hlinkClick r:id="rId9"/>
              </a:rPr>
              <a:t>https://arxiv.org/abs/2308.11432</a:t>
            </a:r>
            <a:endParaRPr sz="900">
              <a:solidFill>
                <a:srgbClr val="000000"/>
              </a:solidFill>
              <a:latin typeface="Vazirmatn ExtraLight"/>
              <a:ea typeface="Vazirmatn ExtraLight"/>
              <a:cs typeface="Vazirmatn ExtraLight"/>
              <a:sym typeface="Vazirmatn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900">
              <a:latin typeface="Vazirmatn ExtraLight"/>
              <a:ea typeface="Vazirmatn ExtraLight"/>
              <a:cs typeface="Vazirmatn ExtraLight"/>
              <a:sym typeface="Vazirmatn ExtraLight"/>
            </a:endParaRPr>
          </a:p>
        </p:txBody>
      </p:sp>
      <p:sp>
        <p:nvSpPr>
          <p:cNvPr id="232" name="Google Shape;232;p38"/>
          <p:cNvSpPr txBox="1"/>
          <p:nvPr>
            <p:ph idx="2" type="body"/>
          </p:nvPr>
        </p:nvSpPr>
        <p:spPr>
          <a:xfrm>
            <a:off x="4832400" y="1080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275"/>
              <a:buNone/>
            </a:pP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1. nnU-Net – ستون اصلی سگمنتیشن پزشکی</a:t>
            </a:r>
            <a:r>
              <a:rPr i="1"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</a:t>
            </a: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چارچوب خود کانفیگ برای سگمنتیشن، پایه‌ی خیلی از کارهای جدید.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2. MONAI – فریم‌ورک PyTorch برای تصویر پزشکی</a:t>
            </a:r>
            <a:r>
              <a:rPr i="1"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</a:t>
            </a: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فریم‌ورک اصلی برای شبکه‌ها، ترنسفورم‌ها و متریک‌های مدیکال ایمیجینگ.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3. Segment Anything – مدل عمومی سگمنتیشن</a:t>
            </a:r>
            <a:r>
              <a:rPr i="1"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</a:t>
            </a: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پایه‌ی ایده «سگمنت‌کردن تقریبا هر چیزی» با پرامپت ساده (نقطه/باکس).</a:t>
            </a: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b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</a:b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4. MedSAM – نسخهٔ پزشکی SAM</a:t>
            </a:r>
            <a:r>
              <a:rPr i="1"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</a:t>
            </a: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تطبیق ایده SAM برای CT/MRI/Histopath؛ نشان می‌دهد SAM-style در پزشکی هم جواب می‌دهد.</a:t>
            </a:r>
            <a:endParaRPr sz="1100">
              <a:solidFill>
                <a:srgbClr val="000000"/>
              </a:solidFill>
              <a:latin typeface="Vazirmatn Light"/>
              <a:ea typeface="Vazirmatn Light"/>
              <a:cs typeface="Vazirmatn Light"/>
              <a:sym typeface="Vazirmatn Light"/>
            </a:endParaRPr>
          </a:p>
          <a:p>
            <a:pPr indent="0" lvl="0" marL="0" rtl="1" algn="r">
              <a:lnSpc>
                <a:spcPct val="95000"/>
              </a:lnSpc>
              <a:spcBef>
                <a:spcPts val="1400"/>
              </a:spcBef>
              <a:spcAft>
                <a:spcPts val="400"/>
              </a:spcAft>
              <a:buSzPts val="275"/>
              <a:buNone/>
            </a:pPr>
            <a:r>
              <a:rPr lang="en" sz="1100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5. مروری بر هوش مصنوعی های کنشگر خودمختار مبتنی بر مدل‌های زبانی بزرگ.</a:t>
            </a:r>
            <a:endParaRPr sz="1100">
              <a:latin typeface="Vazirmatn Light"/>
              <a:ea typeface="Vazirmatn Light"/>
              <a:cs typeface="Vazirmatn Light"/>
              <a:sym typeface="Vazirmatn Light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15/17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>
                <a:latin typeface="Vazirmatn"/>
                <a:ea typeface="Vazirmatn"/>
                <a:cs typeface="Vazirmatn"/>
                <a:sym typeface="Vazirmatn"/>
              </a:rPr>
              <a:t>ارتباط با ما:</a:t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400">
                <a:latin typeface="Vazirmatn"/>
                <a:ea typeface="Vazirmatn"/>
                <a:cs typeface="Vazirmatn"/>
                <a:sym typeface="Vazirmatn"/>
              </a:rPr>
              <a:t>هوش افزار امین پارس</a:t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>
                <a:latin typeface="Vazirmatn"/>
                <a:ea typeface="Vazirmatn"/>
                <a:cs typeface="Vazirmatn"/>
                <a:sym typeface="Vazirmatn"/>
              </a:rPr>
              <a:t>هاتف مجتمع شمس پلاک 10</a:t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u="sng">
                <a:solidFill>
                  <a:schemeClr val="hlink"/>
                </a:solidFill>
                <a:latin typeface="Vazirmatn"/>
                <a:ea typeface="Vazirmatn"/>
                <a:cs typeface="Vazirmatn"/>
                <a:sym typeface="Vazirmatn"/>
                <a:hlinkClick r:id="rId3"/>
              </a:rPr>
              <a:t>info@hoosh.pro</a:t>
            </a:r>
            <a:endParaRPr sz="1400">
              <a:solidFill>
                <a:schemeClr val="accent3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>
              <a:solidFill>
                <a:schemeClr val="accent3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 u="sng">
                <a:solidFill>
                  <a:schemeClr val="hlink"/>
                </a:solidFill>
                <a:latin typeface="Vazirmatn"/>
                <a:ea typeface="Vazirmatn"/>
                <a:cs typeface="Vazirmatn"/>
                <a:sym typeface="Vazirmatn"/>
                <a:hlinkClick r:id="rId4"/>
              </a:rPr>
              <a:t>https://hoosh.pro</a:t>
            </a:r>
            <a:endParaRPr sz="1400">
              <a:solidFill>
                <a:schemeClr val="accent3"/>
              </a:solidFill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400">
                <a:latin typeface="Vazirmatn"/>
                <a:ea typeface="Vazirmatn"/>
                <a:cs typeface="Vazirmatn"/>
                <a:sym typeface="Vazirmatn"/>
              </a:rPr>
              <a:t> </a:t>
            </a:r>
            <a:endParaRPr sz="1400">
              <a:latin typeface="Vazirmatn"/>
              <a:ea typeface="Vazirmatn"/>
              <a:cs typeface="Vazirmatn"/>
              <a:sym typeface="Vazirmatn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16/17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9"/>
          <p:cNvSpPr txBox="1"/>
          <p:nvPr>
            <p:ph type="title"/>
          </p:nvPr>
        </p:nvSpPr>
        <p:spPr>
          <a:xfrm>
            <a:off x="2834643" y="26565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سپاس از شما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</p:txBody>
      </p:sp>
      <p:pic>
        <p:nvPicPr>
          <p:cNvPr descr="هوش افزار امین پارس بهترین شرکت هوش مصنوعی اصفهان و ایران" id="243" name="Google Shape;24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2383" y="1490875"/>
            <a:ext cx="44100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2383" y="2750802"/>
            <a:ext cx="1819529" cy="1657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/>
        </p:nvSpPr>
        <p:spPr>
          <a:xfrm>
            <a:off x="8142832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16/17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113466" y="4752210"/>
            <a:ext cx="8358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chemeClr val="lt2"/>
                </a:solidFill>
                <a:latin typeface="Vazirmatn"/>
                <a:ea typeface="Vazirmatn"/>
                <a:cs typeface="Vazirmatn"/>
                <a:sym typeface="Vazirmatn"/>
              </a:rPr>
              <a:t>از سوال زبانی تا تحلیل تصاویر؛ بدون یک خط کدنویسی	</a:t>
            </a:r>
            <a:r>
              <a:rPr b="0" i="0" lang="en" sz="800" u="none" cap="none" strike="noStrike">
                <a:solidFill>
                  <a:srgbClr val="000000"/>
                </a:solidFill>
                <a:latin typeface="Vazirmatn Light"/>
                <a:ea typeface="Vazirmatn Light"/>
                <a:cs typeface="Vazirmatn Light"/>
                <a:sym typeface="Vazirmatn Light"/>
              </a:rPr>
              <a:t> حسام شینی	پاییز 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1404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8145410" y="4752210"/>
            <a:ext cx="68946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17/17</a:t>
            </a:r>
            <a:endParaRPr b="1" i="0" sz="11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bstract seamless pattern made of geometric shapes (Provided by Getty Images)" id="252" name="Google Shape;252;p40"/>
          <p:cNvPicPr preferRelativeResize="0"/>
          <p:nvPr/>
        </p:nvPicPr>
        <p:blipFill rotWithShape="1">
          <a:blip r:embed="rId3">
            <a:alphaModFix/>
          </a:blip>
          <a:srcRect b="6178" l="0" r="0" t="6187"/>
          <a:stretch/>
        </p:blipFill>
        <p:spPr>
          <a:xfrm>
            <a:off x="452574" y="1194727"/>
            <a:ext cx="3217084" cy="290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574" y="1199673"/>
            <a:ext cx="3351202" cy="289594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 txBox="1"/>
          <p:nvPr>
            <p:ph type="title"/>
          </p:nvPr>
        </p:nvSpPr>
        <p:spPr>
          <a:xfrm>
            <a:off x="2106789" y="347864"/>
            <a:ext cx="4372345" cy="5629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700">
                <a:latin typeface="Vazirmatn"/>
                <a:ea typeface="Vazirmatn"/>
                <a:cs typeface="Vazirmatn"/>
                <a:sym typeface="Vazirmatn"/>
              </a:rPr>
              <a:t>سوال و جواب</a:t>
            </a:r>
            <a:endParaRPr sz="2700">
              <a:latin typeface="Vazirmatn"/>
              <a:ea typeface="Vazirmatn"/>
              <a:cs typeface="Vazirmatn"/>
              <a:sym typeface="Vazirmatn"/>
            </a:endParaRPr>
          </a:p>
        </p:txBody>
      </p:sp>
      <p:pic>
        <p:nvPicPr>
          <p:cNvPr id="255" name="Google Shape;25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3776" y="1107959"/>
            <a:ext cx="5028524" cy="309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